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1005840"/>
            <a:ext cx="4754880" cy="4754880"/>
          </a:xfrm>
          <a:prstGeom prst="ellipse">
            <a:avLst/>
          </a:prstGeom>
          <a:solidFill>
            <a:srgbClr val="23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206240"/>
            <a:ext cx="3657600" cy="3657600"/>
          </a:xfrm>
          <a:prstGeom prst="ellipse">
            <a:avLst/>
          </a:prstGeom>
          <a:solidFill>
            <a:srgbClr val="6B3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326880" y="640080"/>
            <a:ext cx="5394960" cy="5943600"/>
          </a:xfrm>
          <a:prstGeom prst="parallelogram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658368"/>
            <a:ext cx="54864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DE7F7"/>
                </a:solidFill>
                <a:latin typeface="Aptos"/>
              </a:rPr>
              <a:t>HELIOGRID LABS / OPERATING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508760"/>
            <a:ext cx="7543800" cy="2240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ptos"/>
              </a:rPr>
              <a:t>Resilience systems for volatile energy markets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069080"/>
            <a:ext cx="722376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0">
                <a:solidFill>
                  <a:srgbClr val="DDE7F7"/>
                </a:solidFill>
                <a:latin typeface="Aptos"/>
              </a:rPr>
              <a:t>Fictional 2026 executive presentation designed to stress HTML-to-PowerPoint conversion across layered layouts, editable text, complex cards, SVG charts, tables, and image-like CSS.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623560"/>
            <a:ext cx="1353312" cy="402336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7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733288"/>
            <a:ext cx="115214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9" b="1">
                <a:solidFill>
                  <a:srgbClr val="2F6FED"/>
                </a:solidFill>
                <a:latin typeface="Aptos"/>
              </a:rPr>
              <a:t>Hybrid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4016" y="5623560"/>
            <a:ext cx="1353312" cy="402336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7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5456" y="5733288"/>
            <a:ext cx="115214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9" b="1">
                <a:solidFill>
                  <a:srgbClr val="2F6FED"/>
                </a:solidFill>
                <a:latin typeface="Aptos"/>
              </a:rPr>
              <a:t>Editable objects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86784" y="5623560"/>
            <a:ext cx="1353312" cy="402336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7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78224" y="5733288"/>
            <a:ext cx="115214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69" b="1">
                <a:solidFill>
                  <a:srgbClr val="2F6FED"/>
                </a:solidFill>
                <a:latin typeface="Aptos"/>
              </a:rPr>
              <a:t>Visual fallback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52760" y="5943600"/>
            <a:ext cx="2377440" cy="960120"/>
          </a:xfrm>
          <a:prstGeom prst="roundRect">
            <a:avLst/>
          </a:prstGeom>
          <a:solidFill>
            <a:srgbClr val="263B5B"/>
          </a:solidFill>
          <a:ln w="12700">
            <a:solidFill>
              <a:srgbClr val="526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0" y="6144768"/>
            <a:ext cx="786384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0" y="6190488"/>
            <a:ext cx="113385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DE7F7"/>
                </a:solidFill>
                <a:latin typeface="Aptos"/>
              </a:rPr>
              <a:t>Board-ready prototype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EXECUTIVE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Executive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737360"/>
            <a:ext cx="621792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48256"/>
            <a:ext cx="5394960" cy="12252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ptos"/>
              </a:rPr>
              <a:t>Reliability improved while load volatility rose.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93008"/>
            <a:ext cx="530352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57086"/>
                </a:solidFill>
                <a:latin typeface="Aptos"/>
              </a:rPr>
              <a:t>The grid simulator absorbed sharper demand swings, added faster failover paths, and reduced operator intervention during congestion events.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051560" y="5669280"/>
            <a:ext cx="1097280" cy="228600"/>
          </a:xfrm>
          <a:prstGeom prst="line">
            <a:avLst/>
          </a:prstGeom>
          <a:ln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148840" y="5669280"/>
            <a:ext cx="914400" cy="137160"/>
          </a:xfrm>
          <a:prstGeom prst="line">
            <a:avLst/>
          </a:prstGeom>
          <a:ln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063240" y="5230368"/>
            <a:ext cx="1005840" cy="576072"/>
          </a:xfrm>
          <a:prstGeom prst="line">
            <a:avLst/>
          </a:prstGeom>
          <a:ln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069080" y="4709160"/>
            <a:ext cx="914400" cy="521208"/>
          </a:xfrm>
          <a:prstGeom prst="line">
            <a:avLst/>
          </a:prstGeom>
          <a:ln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83480" y="4709160"/>
            <a:ext cx="777240" cy="118872"/>
          </a:xfrm>
          <a:prstGeom prst="line">
            <a:avLst/>
          </a:prstGeom>
          <a:ln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760720" y="4370832"/>
            <a:ext cx="685800" cy="457200"/>
          </a:xfrm>
          <a:prstGeom prst="line">
            <a:avLst/>
          </a:prstGeom>
          <a:ln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6792" y="4261104"/>
            <a:ext cx="219456" cy="219456"/>
          </a:xfrm>
          <a:prstGeom prst="ellipse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88352" y="1737360"/>
            <a:ext cx="285292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88352" y="1737360"/>
            <a:ext cx="109728" cy="217627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4383" y="1956815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99.3%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542032"/>
            <a:ext cx="2468880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57086"/>
                </a:solidFill>
                <a:latin typeface="Aptos"/>
              </a:rPr>
              <a:t>scenario service level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88752" y="1737360"/>
            <a:ext cx="285292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1737360"/>
            <a:ext cx="109728" cy="2176272"/>
          </a:xfrm>
          <a:prstGeom prst="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44784" y="1956815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-18%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44784" y="2542032"/>
            <a:ext cx="2468880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57086"/>
                </a:solidFill>
                <a:latin typeface="Aptos"/>
              </a:rPr>
              <a:t>manual intervention hours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88352" y="4407408"/>
            <a:ext cx="285292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88352" y="4407408"/>
            <a:ext cx="109728" cy="2176272"/>
          </a:xfrm>
          <a:prstGeom prst="rect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44383" y="4626864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41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5212080"/>
            <a:ext cx="2468880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57086"/>
                </a:solidFill>
                <a:latin typeface="Aptos"/>
              </a:rPr>
              <a:t>median dispatch latency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88752" y="4407408"/>
            <a:ext cx="285292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88752" y="4407408"/>
            <a:ext cx="109728" cy="2176272"/>
          </a:xfrm>
          <a:prstGeom prst="rect">
            <a:avLst/>
          </a:prstGeom>
          <a:solidFill>
            <a:srgbClr val="E4A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44784" y="4626864"/>
            <a:ext cx="24688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7.4x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44784" y="5212080"/>
            <a:ext cx="2468880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57086"/>
                </a:solidFill>
                <a:latin typeface="Aptos"/>
              </a:rPr>
              <a:t>stress-test throughput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NETWORK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Resilience Network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64208"/>
            <a:ext cx="13030200" cy="5870448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417320" y="2011680"/>
            <a:ext cx="2514600" cy="1234440"/>
          </a:xfrm>
          <a:prstGeom prst="line">
            <a:avLst/>
          </a:prstGeom>
          <a:ln w="508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931920" y="2011680"/>
            <a:ext cx="2606040" cy="1874520"/>
          </a:xfrm>
          <a:prstGeom prst="line">
            <a:avLst/>
          </a:prstGeom>
          <a:ln w="508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37960" y="2926080"/>
            <a:ext cx="4160520" cy="960120"/>
          </a:xfrm>
          <a:prstGeom prst="line">
            <a:avLst/>
          </a:prstGeom>
          <a:ln w="50800">
            <a:solidFill>
              <a:srgbClr val="0E9F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331720" y="3886200"/>
            <a:ext cx="4206240" cy="1691640"/>
          </a:xfrm>
          <a:prstGeom prst="line">
            <a:avLst/>
          </a:prstGeom>
          <a:ln w="50800">
            <a:solidFill>
              <a:srgbClr val="0E9F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37960" y="3886200"/>
            <a:ext cx="5303520" cy="1691640"/>
          </a:xfrm>
          <a:prstGeom prst="line">
            <a:avLst/>
          </a:prstGeom>
          <a:ln w="50800">
            <a:solidFill>
              <a:srgbClr val="F06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143000" y="2578608"/>
            <a:ext cx="1417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706624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N-01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62656"/>
            <a:ext cx="1005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657086"/>
                </a:solidFill>
                <a:latin typeface="Aptos"/>
              </a:rPr>
              <a:t>solar basin</a:t>
            </a:r>
          </a:p>
        </p:txBody>
      </p:sp>
      <p:sp>
        <p:nvSpPr>
          <p:cNvPr id="17" name="Oval 16"/>
          <p:cNvSpPr/>
          <p:nvPr/>
        </p:nvSpPr>
        <p:spPr>
          <a:xfrm>
            <a:off x="2167128" y="2779776"/>
            <a:ext cx="256032" cy="25603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0" y="1828800"/>
            <a:ext cx="1417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195681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N-08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212848"/>
            <a:ext cx="1005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657086"/>
                </a:solidFill>
                <a:latin typeface="Aptos"/>
              </a:rPr>
              <a:t>battery hub</a:t>
            </a:r>
          </a:p>
        </p:txBody>
      </p:sp>
      <p:sp>
        <p:nvSpPr>
          <p:cNvPr id="21" name="Oval 20"/>
          <p:cNvSpPr/>
          <p:nvPr/>
        </p:nvSpPr>
        <p:spPr>
          <a:xfrm>
            <a:off x="4681728" y="2029968"/>
            <a:ext cx="256032" cy="256032"/>
          </a:xfrm>
          <a:prstGeom prst="ellipse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61888" y="3337560"/>
            <a:ext cx="1417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9048" y="346557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N-12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3721608"/>
            <a:ext cx="1005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657086"/>
                </a:solidFill>
                <a:latin typeface="Aptos"/>
              </a:rPr>
              <a:t>market bridge</a:t>
            </a:r>
          </a:p>
        </p:txBody>
      </p:sp>
      <p:sp>
        <p:nvSpPr>
          <p:cNvPr id="25" name="Oval 24"/>
          <p:cNvSpPr/>
          <p:nvPr/>
        </p:nvSpPr>
        <p:spPr>
          <a:xfrm>
            <a:off x="6986016" y="3538728"/>
            <a:ext cx="256032" cy="256032"/>
          </a:xfrm>
          <a:prstGeom prst="ellipse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04120" y="2697480"/>
            <a:ext cx="1417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0" y="282549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N-21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081528"/>
            <a:ext cx="1005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657086"/>
                </a:solidFill>
                <a:latin typeface="Aptos"/>
              </a:rPr>
              <a:t>industrial load</a:t>
            </a:r>
          </a:p>
        </p:txBody>
      </p:sp>
      <p:sp>
        <p:nvSpPr>
          <p:cNvPr id="29" name="Oval 28"/>
          <p:cNvSpPr/>
          <p:nvPr/>
        </p:nvSpPr>
        <p:spPr>
          <a:xfrm>
            <a:off x="11128248" y="2898648"/>
            <a:ext cx="256032" cy="256032"/>
          </a:xfrm>
          <a:prstGeom prst="ellipse">
            <a:avLst/>
          </a:prstGeom>
          <a:solidFill>
            <a:srgbClr val="E4A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1265408" y="5166360"/>
            <a:ext cx="1417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02568" y="529437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N-34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02568" y="5550408"/>
            <a:ext cx="1005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657086"/>
                </a:solidFill>
                <a:latin typeface="Aptos"/>
              </a:rPr>
              <a:t>coastal reserve</a:t>
            </a:r>
          </a:p>
        </p:txBody>
      </p:sp>
      <p:sp>
        <p:nvSpPr>
          <p:cNvPr id="33" name="Oval 32"/>
          <p:cNvSpPr/>
          <p:nvPr/>
        </p:nvSpPr>
        <p:spPr>
          <a:xfrm>
            <a:off x="12289536" y="5367528"/>
            <a:ext cx="256032" cy="256032"/>
          </a:xfrm>
          <a:prstGeom prst="ellipse">
            <a:avLst/>
          </a:prstGeom>
          <a:solidFill>
            <a:srgbClr val="704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68880" y="5394960"/>
            <a:ext cx="1417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5522976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72033"/>
                </a:solidFill>
                <a:latin typeface="Aptos"/>
              </a:rPr>
              <a:t>N-55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5779008"/>
            <a:ext cx="10058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1">
                <a:solidFill>
                  <a:srgbClr val="657086"/>
                </a:solidFill>
                <a:latin typeface="Aptos"/>
              </a:rPr>
              <a:t>microgrid</a:t>
            </a:r>
          </a:p>
        </p:txBody>
      </p:sp>
      <p:sp>
        <p:nvSpPr>
          <p:cNvPr id="37" name="Oval 36"/>
          <p:cNvSpPr/>
          <p:nvPr/>
        </p:nvSpPr>
        <p:spPr>
          <a:xfrm>
            <a:off x="3493008" y="5596128"/>
            <a:ext cx="256032" cy="256032"/>
          </a:xfrm>
          <a:prstGeom prst="ellipse">
            <a:avLst/>
          </a:prstGeom>
          <a:solidFill>
            <a:srgbClr val="9CC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FORECAST ENVELOPE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Demand Forecast Envelope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828800"/>
            <a:ext cx="6766560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4741164"/>
            <a:ext cx="402336" cy="124815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6163056"/>
            <a:ext cx="493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657086"/>
                </a:solidFill>
                <a:latin typeface="Aptos"/>
              </a:rPr>
              <a:t>Jan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56232" y="4503420"/>
            <a:ext cx="402336" cy="1485900"/>
          </a:xfrm>
          <a:prstGeom prst="round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6163056"/>
            <a:ext cx="493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657086"/>
                </a:solidFill>
                <a:latin typeface="Aptos"/>
              </a:rPr>
              <a:t>Feb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9464" y="4295394"/>
            <a:ext cx="402336" cy="1693925"/>
          </a:xfrm>
          <a:prstGeom prst="roundRect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3744" y="6163056"/>
            <a:ext cx="493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657086"/>
                </a:solidFill>
                <a:latin typeface="Aptos"/>
              </a:rPr>
              <a:t>Mar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82696" y="3849624"/>
            <a:ext cx="402336" cy="2139696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6976" y="6163056"/>
            <a:ext cx="493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657086"/>
                </a:solidFill>
                <a:latin typeface="Aptos"/>
              </a:rPr>
              <a:t>Apr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95928" y="4027931"/>
            <a:ext cx="402336" cy="1961388"/>
          </a:xfrm>
          <a:prstGeom prst="round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6163056"/>
            <a:ext cx="493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657086"/>
                </a:solidFill>
                <a:latin typeface="Aptos"/>
              </a:rPr>
              <a:t>May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582161"/>
            <a:ext cx="402336" cy="2407158"/>
          </a:xfrm>
          <a:prstGeom prst="roundRect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6163056"/>
            <a:ext cx="493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657086"/>
                </a:solidFill>
                <a:latin typeface="Aptos"/>
              </a:rPr>
              <a:t>Jun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22392" y="3760470"/>
            <a:ext cx="402336" cy="2228850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6672" y="6163056"/>
            <a:ext cx="493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657086"/>
                </a:solidFill>
                <a:latin typeface="Aptos"/>
              </a:rPr>
              <a:t>Jul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35624" y="3374136"/>
            <a:ext cx="402336" cy="2615184"/>
          </a:xfrm>
          <a:prstGeom prst="round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4" y="6163056"/>
            <a:ext cx="49377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657086"/>
                </a:solidFill>
                <a:latin typeface="Aptos"/>
              </a:rPr>
              <a:t>Aug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828800"/>
            <a:ext cx="5870448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194560"/>
            <a:ext cx="3840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72033"/>
                </a:solidFill>
                <a:latin typeface="Aptos"/>
              </a:rPr>
              <a:t>Conversion stressors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761488"/>
            <a:ext cx="493776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57086"/>
                </a:solidFill>
                <a:latin typeface="Aptos"/>
              </a:rPr>
              <a:t>This slide mixes grid layout, variable-height bars, rounded objects, text labels, and a paragraph column that should remain editable.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4434840"/>
            <a:ext cx="1847088" cy="38404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7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4535424"/>
            <a:ext cx="162763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2F6FED"/>
                </a:solidFill>
                <a:latin typeface="Aptos"/>
              </a:rPr>
              <a:t>native bars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51592" y="4434840"/>
            <a:ext cx="1847088" cy="38404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7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52176" y="4535424"/>
            <a:ext cx="162763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2F6FED"/>
                </a:solidFill>
                <a:latin typeface="Aptos"/>
              </a:rPr>
              <a:t>editable labels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5093207"/>
            <a:ext cx="1847088" cy="38404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7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75904" y="5193792"/>
            <a:ext cx="162763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2F6FED"/>
                </a:solidFill>
                <a:latin typeface="Aptos"/>
              </a:rPr>
              <a:t>axis fallback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51592" y="5093207"/>
            <a:ext cx="1847088" cy="38404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B7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52176" y="5193792"/>
            <a:ext cx="1627632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2F6FED"/>
                </a:solidFill>
                <a:latin typeface="Aptos"/>
              </a:rPr>
              <a:t>color mapping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CUSTOMER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Customer Signal Segments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20240"/>
            <a:ext cx="38862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00200" y="2505456"/>
            <a:ext cx="2331720" cy="233172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93392" y="2898648"/>
            <a:ext cx="1536192" cy="1536192"/>
          </a:xfrm>
          <a:prstGeom prst="ellipse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3401568"/>
            <a:ext cx="10058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172033"/>
                </a:solidFill>
                <a:latin typeface="Aptos"/>
              </a:rPr>
              <a:t>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5230368"/>
            <a:ext cx="2980944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657086"/>
                </a:solidFill>
                <a:latin typeface="Aptos"/>
              </a:rPr>
              <a:t>Accounts ready for guided automation after simulation replay.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920240"/>
            <a:ext cx="38862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74920" y="1920240"/>
            <a:ext cx="109728" cy="221284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2139696"/>
            <a:ext cx="35021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Utilities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2724912"/>
            <a:ext cx="3502152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57086"/>
                </a:solidFill>
                <a:latin typeface="Aptos"/>
              </a:rPr>
              <a:t>faster outage playbooks, high compliance pressure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54896" y="1920240"/>
            <a:ext cx="38862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54896" y="1920240"/>
            <a:ext cx="109728" cy="2212848"/>
          </a:xfrm>
          <a:prstGeom prst="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10928" y="2139696"/>
            <a:ext cx="35021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Retailers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0928" y="2724912"/>
            <a:ext cx="3502152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57086"/>
                </a:solidFill>
                <a:latin typeface="Aptos"/>
              </a:rPr>
              <a:t>margin protection, load shaping, churn signals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4617720"/>
            <a:ext cx="38862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74920" y="4617720"/>
            <a:ext cx="109728" cy="2212848"/>
          </a:xfrm>
          <a:prstGeom prst="rect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0952" y="4837176"/>
            <a:ext cx="35021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0952" y="5422392"/>
            <a:ext cx="3502152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57086"/>
                </a:solidFill>
                <a:latin typeface="Aptos"/>
              </a:rPr>
              <a:t>new arbitrage paths, sharper bidding 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54896" y="4617720"/>
            <a:ext cx="388620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54896" y="4617720"/>
            <a:ext cx="109728" cy="2212848"/>
          </a:xfrm>
          <a:prstGeom prst="rect">
            <a:avLst/>
          </a:prstGeom>
          <a:solidFill>
            <a:srgbClr val="E4A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4837176"/>
            <a:ext cx="35021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Campuses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5422392"/>
            <a:ext cx="3502152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57086"/>
                </a:solidFill>
                <a:latin typeface="Aptos"/>
              </a:rPr>
              <a:t>microgrid autonomy, local reporting needs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INCIDENT REPLAY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Incident Replay Timeline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3273552"/>
            <a:ext cx="11795760" cy="0"/>
          </a:xfrm>
          <a:prstGeom prst="line">
            <a:avLst/>
          </a:prstGeom>
          <a:ln w="50800">
            <a:solidFill>
              <a:srgbClr val="0E9F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078992" y="28986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3721608"/>
            <a:ext cx="2103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95928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02:10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5312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57086"/>
                </a:solidFill>
                <a:latin typeface="Aptos"/>
              </a:rPr>
              <a:t>Forecast drift crosses alert threshold.</a:t>
            </a:r>
          </a:p>
        </p:txBody>
      </p:sp>
      <p:sp>
        <p:nvSpPr>
          <p:cNvPr id="13" name="Oval 12"/>
          <p:cNvSpPr/>
          <p:nvPr/>
        </p:nvSpPr>
        <p:spPr>
          <a:xfrm>
            <a:off x="3685032" y="28986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02152" y="3721608"/>
            <a:ext cx="2103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3995928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02:28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45312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57086"/>
                </a:solidFill>
                <a:latin typeface="Aptos"/>
              </a:rPr>
              <a:t>Storage bids rebalanced across three zones.</a:t>
            </a:r>
          </a:p>
        </p:txBody>
      </p:sp>
      <p:sp>
        <p:nvSpPr>
          <p:cNvPr id="17" name="Oval 16"/>
          <p:cNvSpPr/>
          <p:nvPr/>
        </p:nvSpPr>
        <p:spPr>
          <a:xfrm>
            <a:off x="6291072" y="28986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08192" y="3721608"/>
            <a:ext cx="2103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3995928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03:05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445312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57086"/>
                </a:solidFill>
                <a:latin typeface="Aptos"/>
              </a:rPr>
              <a:t>Congestion route opened before market close.</a:t>
            </a:r>
          </a:p>
        </p:txBody>
      </p:sp>
      <p:sp>
        <p:nvSpPr>
          <p:cNvPr id="21" name="Oval 20"/>
          <p:cNvSpPr/>
          <p:nvPr/>
        </p:nvSpPr>
        <p:spPr>
          <a:xfrm>
            <a:off x="8897112" y="28986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14232" y="3721608"/>
            <a:ext cx="2103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3995928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03:44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45312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57086"/>
                </a:solidFill>
                <a:latin typeface="Aptos"/>
              </a:rPr>
              <a:t>Operator review confirms automatic mitigation.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11503152" y="28986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320272" y="3721608"/>
            <a:ext cx="210312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0" y="3995928"/>
            <a:ext cx="914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04:20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4453128"/>
            <a:ext cx="1627632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57086"/>
                </a:solidFill>
                <a:latin typeface="Aptos"/>
              </a:rPr>
              <a:t>Post-event replay updates future policy.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DECISION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Decision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2286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Aptos"/>
              </a:rPr>
              <a:t>Observe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3429000" cy="74980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Telemetry 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02736"/>
            <a:ext cx="3429000" cy="74980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831336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Market prices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736592"/>
            <a:ext cx="3429000" cy="74980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965192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Weather envelope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3840480"/>
            <a:ext cx="576072" cy="0"/>
          </a:xfrm>
          <a:prstGeom prst="line">
            <a:avLst/>
          </a:prstGeom>
          <a:ln w="25400">
            <a:solidFill>
              <a:srgbClr val="65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0" y="1847088"/>
            <a:ext cx="2286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Aptos"/>
              </a:rPr>
              <a:t>Simulate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468880"/>
            <a:ext cx="3429000" cy="749808"/>
          </a:xfrm>
          <a:prstGeom prst="roundRect">
            <a:avLst/>
          </a:prstGeom>
          <a:solidFill>
            <a:srgbClr val="E3F7F4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2697480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Scenario expansion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3602736"/>
            <a:ext cx="3429000" cy="749808"/>
          </a:xfrm>
          <a:prstGeom prst="roundRect">
            <a:avLst/>
          </a:prstGeom>
          <a:solidFill>
            <a:srgbClr val="E3F7F4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3831336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Constraint solver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4736592"/>
            <a:ext cx="3429000" cy="749808"/>
          </a:xfrm>
          <a:prstGeom prst="roundRect">
            <a:avLst/>
          </a:prstGeom>
          <a:solidFill>
            <a:srgbClr val="E3F7F4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4965192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Replay ledger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15400" y="3840480"/>
            <a:ext cx="576072" cy="0"/>
          </a:xfrm>
          <a:prstGeom prst="line">
            <a:avLst/>
          </a:prstGeom>
          <a:ln w="25400">
            <a:solidFill>
              <a:srgbClr val="6570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92640" y="1847088"/>
            <a:ext cx="22860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72033"/>
                </a:solidFill>
                <a:latin typeface="Aptos"/>
              </a:rPr>
              <a:t>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2468880"/>
            <a:ext cx="3429000" cy="749808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697480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Dispatch policy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3602736"/>
            <a:ext cx="3429000" cy="749808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3831336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Operator approval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4736592"/>
            <a:ext cx="3429000" cy="749808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4965192"/>
            <a:ext cx="25603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1">
                <a:solidFill>
                  <a:srgbClr val="172033"/>
                </a:solidFill>
                <a:latin typeface="Aptos"/>
              </a:rPr>
              <a:t>Audit package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FINANCIAL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Financial 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47088"/>
            <a:ext cx="128016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89888" y="3794760"/>
            <a:ext cx="960120" cy="1828800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5870448"/>
            <a:ext cx="1280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086"/>
                </a:solidFill>
                <a:latin typeface="Aptos"/>
              </a:rPr>
              <a:t>Baseline
$42M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4572000"/>
            <a:ext cx="960120" cy="1051560"/>
          </a:xfrm>
          <a:prstGeom prst="round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7" y="5870448"/>
            <a:ext cx="1280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086"/>
                </a:solidFill>
                <a:latin typeface="Aptos"/>
              </a:rPr>
              <a:t>Storage
+8.2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5152" y="4800600"/>
            <a:ext cx="960120" cy="822960"/>
          </a:xfrm>
          <a:prstGeom prst="round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5870448"/>
            <a:ext cx="1280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086"/>
                </a:solidFill>
                <a:latin typeface="Aptos"/>
              </a:rPr>
              <a:t>Dispatch
+5.4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3" y="5029200"/>
            <a:ext cx="960120" cy="594360"/>
          </a:xfrm>
          <a:prstGeom prst="roundRect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8192" y="5870448"/>
            <a:ext cx="1280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086"/>
                </a:solidFill>
                <a:latin typeface="Aptos"/>
              </a:rPr>
              <a:t>Weather
-3.1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4663440"/>
            <a:ext cx="960120" cy="960120"/>
          </a:xfrm>
          <a:prstGeom prst="round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5824" y="5870448"/>
            <a:ext cx="1280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086"/>
                </a:solidFill>
                <a:latin typeface="Aptos"/>
              </a:rPr>
              <a:t>Automation
+7.0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8" y="5148072"/>
            <a:ext cx="960120" cy="475488"/>
          </a:xfrm>
          <a:prstGeom prst="roundRect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5870448"/>
            <a:ext cx="1280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086"/>
                </a:solidFill>
                <a:latin typeface="Aptos"/>
              </a:rPr>
              <a:t>Latency
-1.5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0" y="2560320"/>
            <a:ext cx="960120" cy="3063240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91088" y="5870448"/>
            <a:ext cx="1280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657086"/>
                </a:solidFill>
                <a:latin typeface="Aptos"/>
              </a:rPr>
              <a:t>Plan
$58M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RISK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Risk Heatmap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65960"/>
            <a:ext cx="2048255" cy="731520"/>
          </a:xfrm>
          <a:prstGeom prst="round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57086"/>
                </a:solidFill>
                <a:latin typeface="Aptos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0944" y="1965960"/>
            <a:ext cx="2048255" cy="731520"/>
          </a:xfrm>
          <a:prstGeom prst="round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54096" y="2212848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57086"/>
                </a:solidFill>
                <a:latin typeface="Aptos"/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965960"/>
            <a:ext cx="2048255" cy="731520"/>
          </a:xfrm>
          <a:prstGeom prst="round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2212848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57086"/>
                </a:solidFill>
                <a:latin typeface="Aptos"/>
              </a:rPr>
              <a:t>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965960"/>
            <a:ext cx="2048255" cy="731520"/>
          </a:xfrm>
          <a:prstGeom prst="round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2212848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57086"/>
                </a:solidFill>
                <a:latin typeface="Aptos"/>
              </a:rPr>
              <a:t>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1965960"/>
            <a:ext cx="2048255" cy="731520"/>
          </a:xfrm>
          <a:prstGeom prst="round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73184" y="2212848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57086"/>
                </a:solidFill>
                <a:latin typeface="Aptos"/>
              </a:rPr>
              <a:t>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39728" y="1965960"/>
            <a:ext cx="2048255" cy="731520"/>
          </a:xfrm>
          <a:prstGeom prst="round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0" y="2212848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57086"/>
                </a:solidFill>
                <a:latin typeface="Aptos"/>
              </a:rPr>
              <a:t>Security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2807208"/>
            <a:ext cx="2048255" cy="731520"/>
          </a:xfrm>
          <a:prstGeom prst="round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54096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57086"/>
                </a:solidFill>
                <a:latin typeface="Aptos"/>
              </a:rPr>
              <a:t>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80944" y="2807208"/>
            <a:ext cx="2048255" cy="731520"/>
          </a:xfrm>
          <a:prstGeom prst="roundRect">
            <a:avLst/>
          </a:prstGeom>
          <a:solidFill>
            <a:srgbClr val="DFF6ED"/>
          </a:solidFill>
          <a:ln w="12700">
            <a:solidFill>
              <a:srgbClr val="A5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54096" y="3054096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D6F65"/>
                </a:solidFill>
                <a:latin typeface="Aptos"/>
              </a:rPr>
              <a:t>clean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2807208"/>
            <a:ext cx="2048255" cy="731520"/>
          </a:xfrm>
          <a:prstGeom prst="roundRect">
            <a:avLst/>
          </a:prstGeom>
          <a:solidFill>
            <a:srgbClr val="DFF6ED"/>
          </a:solidFill>
          <a:ln w="12700">
            <a:solidFill>
              <a:srgbClr val="A5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3054096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D6F65"/>
                </a:solidFill>
                <a:latin typeface="Aptos"/>
              </a:rPr>
              <a:t>stable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0336" y="2807208"/>
            <a:ext cx="2048255" cy="731520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E9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3054096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8A5B00"/>
                </a:solidFill>
                <a:latin typeface="Aptos"/>
              </a:rPr>
              <a:t>handoff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0032" y="2807208"/>
            <a:ext cx="2048255" cy="731520"/>
          </a:xfrm>
          <a:prstGeom prst="roundRect">
            <a:avLst/>
          </a:prstGeom>
          <a:solidFill>
            <a:srgbClr val="DFF6ED"/>
          </a:solidFill>
          <a:ln w="12700">
            <a:solidFill>
              <a:srgbClr val="A5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73184" y="3054096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0D6F65"/>
                </a:solidFill>
                <a:latin typeface="Aptos"/>
              </a:rPr>
              <a:t>clear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39728" y="2807208"/>
            <a:ext cx="2048255" cy="731520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E9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12880" y="3054096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8A5B00"/>
                </a:solidFill>
                <a:latin typeface="Aptos"/>
              </a:rPr>
              <a:t>rotate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3648456"/>
            <a:ext cx="2048255" cy="731520"/>
          </a:xfrm>
          <a:prstGeom prst="round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895344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57086"/>
                </a:solidFill>
                <a:latin typeface="Aptos"/>
              </a:rPr>
              <a:t>Medium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80944" y="3648456"/>
            <a:ext cx="2048255" cy="731520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E9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54096" y="3895344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8A5B00"/>
                </a:solidFill>
                <a:latin typeface="Aptos"/>
              </a:rPr>
              <a:t>lag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20640" y="3648456"/>
            <a:ext cx="2048255" cy="731520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E9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93792" y="3895344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8A5B00"/>
                </a:solidFill>
                <a:latin typeface="Aptos"/>
              </a:rPr>
              <a:t>drift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0336" y="3648456"/>
            <a:ext cx="2048255" cy="731520"/>
          </a:xfrm>
          <a:prstGeom prst="roundRect">
            <a:avLst/>
          </a:prstGeom>
          <a:solidFill>
            <a:srgbClr val="FFD8D1"/>
          </a:solidFill>
          <a:ln w="12700">
            <a:solidFill>
              <a:srgbClr val="F4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3488" y="3895344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A02F21"/>
                </a:solidFill>
                <a:latin typeface="Aptos"/>
              </a:rPr>
              <a:t>coverage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00032" y="3648456"/>
            <a:ext cx="2048255" cy="731520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E9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73184" y="3895344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8A5B00"/>
                </a:solidFill>
                <a:latin typeface="Aptos"/>
              </a:rPr>
              <a:t>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39728" y="3648456"/>
            <a:ext cx="2048255" cy="731520"/>
          </a:xfrm>
          <a:prstGeom prst="roundRect">
            <a:avLst/>
          </a:prstGeom>
          <a:solidFill>
            <a:srgbClr val="FFD8D1"/>
          </a:solidFill>
          <a:ln w="12700">
            <a:solidFill>
              <a:srgbClr val="F4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12880" y="3895344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A02F21"/>
                </a:solidFill>
                <a:latin typeface="Aptos"/>
              </a:rPr>
              <a:t>scope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" y="4489704"/>
            <a:ext cx="2048255" cy="731520"/>
          </a:xfrm>
          <a:prstGeom prst="round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4736592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657086"/>
                </a:solidFill>
                <a:latin typeface="Aptos"/>
              </a:rPr>
              <a:t>High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80944" y="4489704"/>
            <a:ext cx="2048255" cy="731520"/>
          </a:xfrm>
          <a:prstGeom prst="roundRect">
            <a:avLst/>
          </a:prstGeom>
          <a:solidFill>
            <a:srgbClr val="FFD8D1"/>
          </a:solidFill>
          <a:ln w="12700">
            <a:solidFill>
              <a:srgbClr val="F4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54096" y="4736592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A02F21"/>
                </a:solidFill>
                <a:latin typeface="Aptos"/>
              </a:rPr>
              <a:t>missing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20640" y="4489704"/>
            <a:ext cx="2048255" cy="731520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E9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93792" y="4736592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8A5B00"/>
                </a:solidFill>
                <a:latin typeface="Aptos"/>
              </a:rPr>
              <a:t>stress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60336" y="4489704"/>
            <a:ext cx="2048255" cy="731520"/>
          </a:xfrm>
          <a:prstGeom prst="roundRect">
            <a:avLst/>
          </a:prstGeom>
          <a:solidFill>
            <a:srgbClr val="FFD8D1"/>
          </a:solidFill>
          <a:ln w="12700">
            <a:solidFill>
              <a:srgbClr val="F4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33488" y="4736592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A02F21"/>
                </a:solidFill>
                <a:latin typeface="Aptos"/>
              </a:rPr>
              <a:t>manual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00032" y="4489704"/>
            <a:ext cx="2048255" cy="731520"/>
          </a:xfrm>
          <a:prstGeom prst="roundRect">
            <a:avLst/>
          </a:prstGeom>
          <a:solidFill>
            <a:srgbClr val="FFD8D1"/>
          </a:solidFill>
          <a:ln w="12700">
            <a:solidFill>
              <a:srgbClr val="F4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73184" y="4736592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A02F21"/>
                </a:solidFill>
                <a:latin typeface="Aptos"/>
              </a:rPr>
              <a:t>audit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539728" y="4489704"/>
            <a:ext cx="2048255" cy="731520"/>
          </a:xfrm>
          <a:prstGeom prst="roundRect">
            <a:avLst/>
          </a:prstGeom>
          <a:solidFill>
            <a:srgbClr val="FFF0C2"/>
          </a:solidFill>
          <a:ln w="12700">
            <a:solidFill>
              <a:srgbClr val="E9C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12880" y="4736592"/>
            <a:ext cx="1883663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8A5B00"/>
                </a:solidFill>
                <a:latin typeface="Aptos"/>
              </a:rPr>
              <a:t>identity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LAUNCH WORKSTREAMS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Launch Workstreams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847088"/>
            <a:ext cx="2944368" cy="5349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139696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6" y="2651760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2416" y="2651760"/>
            <a:ext cx="73152" cy="7498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2852928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Export report states tradeoffs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2416" y="3675887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2416" y="3675887"/>
            <a:ext cx="73152" cy="7498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3877055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Mode labels match user intent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" y="4700016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42416" y="4700016"/>
            <a:ext cx="73152" cy="74980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6" y="4901184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PowerPoint icon appears in menu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4" y="1847088"/>
            <a:ext cx="2944368" cy="5349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98264" y="2139696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Build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2651760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2651760"/>
            <a:ext cx="73152" cy="749808"/>
          </a:xfrm>
          <a:prstGeom prst="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53712" y="2852928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Slide extraction module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70832" y="3675887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3675887"/>
            <a:ext cx="73152" cy="749808"/>
          </a:xfrm>
          <a:prstGeom prst="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877055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Editable text converter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700016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700016"/>
            <a:ext cx="73152" cy="749808"/>
          </a:xfrm>
          <a:prstGeom prst="rect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4901184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Shape and table support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0" y="1847088"/>
            <a:ext cx="2944368" cy="5349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80" y="2139696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Verify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99248" y="2651760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99248" y="2651760"/>
            <a:ext cx="73152" cy="749808"/>
          </a:xfrm>
          <a:prstGeom prst="rect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8" y="2852928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Hairy fixture visual diff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9248" y="3675887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699248" y="3675887"/>
            <a:ext cx="73152" cy="749808"/>
          </a:xfrm>
          <a:prstGeom prst="rect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82128" y="3877055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LibreOffice render smoke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99248" y="4700016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99248" y="4700016"/>
            <a:ext cx="73152" cy="749808"/>
          </a:xfrm>
          <a:prstGeom prst="rect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8" y="4901184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XML object count checks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826496" y="1847088"/>
            <a:ext cx="2944368" cy="5349240"/>
          </a:xfrm>
          <a:prstGeom prst="roundRect">
            <a:avLst/>
          </a:prstGeom>
          <a:solidFill>
            <a:srgbClr val="F5F7FB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55096" y="2139696"/>
            <a:ext cx="1645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72033"/>
                </a:solidFill>
                <a:latin typeface="Aptos"/>
              </a:rPr>
              <a:t>Ship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27664" y="2651760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027664" y="2651760"/>
            <a:ext cx="73152" cy="749808"/>
          </a:xfrm>
          <a:prstGeom prst="rect">
            <a:avLst/>
          </a:prstGeom>
          <a:solidFill>
            <a:srgbClr val="E4A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10544" y="2852928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README caveats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027664" y="3675887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027664" y="3675887"/>
            <a:ext cx="73152" cy="749808"/>
          </a:xfrm>
          <a:prstGeom prst="rect">
            <a:avLst/>
          </a:prstGeom>
          <a:solidFill>
            <a:srgbClr val="E4A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10544" y="3877055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VS Code webview path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027664" y="4700016"/>
            <a:ext cx="24505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027664" y="4700016"/>
            <a:ext cx="73152" cy="749808"/>
          </a:xfrm>
          <a:prstGeom prst="rect">
            <a:avLst/>
          </a:prstGeom>
          <a:solidFill>
            <a:srgbClr val="E4A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10544" y="4901184"/>
            <a:ext cx="1920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20" b="1">
                <a:solidFill>
                  <a:srgbClr val="172033"/>
                </a:solidFill>
                <a:latin typeface="Aptos"/>
              </a:rPr>
              <a:t>Regression harness in CI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COMPETITIVE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Competitive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12801600" cy="5440680"/>
          </a:xfrm>
          <a:prstGeom prst="roundRect">
            <a:avLst/>
          </a:prstGeom>
          <a:solidFill>
            <a:srgbClr val="FFFAF0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269480" y="1965960"/>
            <a:ext cx="0" cy="5093208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4128" y="4526280"/>
            <a:ext cx="12435840" cy="0"/>
          </a:xfrm>
          <a:prstGeom prst="line">
            <a:avLst/>
          </a:prstGeom>
          <a:ln w="19050">
            <a:solidFill>
              <a:srgbClr val="9AA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743200" y="5212080"/>
            <a:ext cx="1078992" cy="1078992"/>
          </a:xfrm>
          <a:prstGeom prst="ellipse">
            <a:avLst/>
          </a:prstGeom>
          <a:solidFill>
            <a:srgbClr val="704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5522976"/>
            <a:ext cx="749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PDF
print</a:t>
            </a:r>
          </a:p>
        </p:txBody>
      </p:sp>
      <p:sp>
        <p:nvSpPr>
          <p:cNvPr id="13" name="Oval 12"/>
          <p:cNvSpPr/>
          <p:nvPr/>
        </p:nvSpPr>
        <p:spPr>
          <a:xfrm>
            <a:off x="5577840" y="3154680"/>
            <a:ext cx="1078992" cy="107899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42431" y="3465576"/>
            <a:ext cx="749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Hybrid
PPTX</a:t>
            </a:r>
          </a:p>
        </p:txBody>
      </p:sp>
      <p:sp>
        <p:nvSpPr>
          <p:cNvPr id="15" name="Oval 14"/>
          <p:cNvSpPr/>
          <p:nvPr/>
        </p:nvSpPr>
        <p:spPr>
          <a:xfrm>
            <a:off x="9418320" y="4572000"/>
            <a:ext cx="1078992" cy="1078992"/>
          </a:xfrm>
          <a:prstGeom prst="ellipse">
            <a:avLst/>
          </a:prstGeom>
          <a:solidFill>
            <a:srgbClr val="0E9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2912" y="4882896"/>
            <a:ext cx="749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Native
deck</a:t>
            </a:r>
          </a:p>
        </p:txBody>
      </p:sp>
      <p:sp>
        <p:nvSpPr>
          <p:cNvPr id="17" name="Oval 16"/>
          <p:cNvSpPr/>
          <p:nvPr/>
        </p:nvSpPr>
        <p:spPr>
          <a:xfrm>
            <a:off x="11155680" y="2788920"/>
            <a:ext cx="1078992" cy="1078992"/>
          </a:xfrm>
          <a:prstGeom prst="ellipse">
            <a:avLst/>
          </a:prstGeom>
          <a:solidFill>
            <a:srgbClr val="F06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20272" y="3099815"/>
            <a:ext cx="74980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Ideal
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6903720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57086"/>
                </a:solidFill>
                <a:latin typeface="Aptos"/>
              </a:rPr>
              <a:t>lower visual parity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903720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000" b="0">
                <a:solidFill>
                  <a:srgbClr val="657086"/>
                </a:solidFill>
                <a:latin typeface="Aptos"/>
              </a:rPr>
              <a:t>higher visual parity</a:t>
            </a:r>
          </a:p>
        </p:txBody>
      </p:sp>
      <p:sp>
        <p:nvSpPr>
          <p:cNvPr id="21" name="TextBox 20"/>
          <p:cNvSpPr txBox="1"/>
          <p:nvPr/>
        </p:nvSpPr>
        <p:spPr>
          <a:xfrm rot="5400000">
            <a:off x="13121640" y="3657600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higher editability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FIDELITY STRESS 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Fidelity Stress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 rot="21480000">
            <a:off x="868680" y="2148840"/>
            <a:ext cx="3383280" cy="18288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2404872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Rotated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898648"/>
            <a:ext cx="26060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57086"/>
                </a:solidFill>
                <a:latin typeface="Aptos"/>
              </a:rPr>
              <a:t>Editable conversion should either preserve rotation or warn.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2148840"/>
            <a:ext cx="3383280" cy="1828800"/>
          </a:xfrm>
          <a:prstGeom prst="roundRect">
            <a:avLst/>
          </a:prstGeom>
          <a:solidFill>
            <a:srgbClr val="FFE5D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2" y="2404872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Clip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2" y="2898648"/>
            <a:ext cx="26060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57086"/>
                </a:solidFill>
                <a:latin typeface="Aptos"/>
              </a:rPr>
              <a:t>This should trigger a fallback warning.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3566160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F06B58"/>
                </a:solidFill>
                <a:latin typeface="Aptos"/>
              </a:rPr>
              <a:t>css-clip-path warning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148840"/>
            <a:ext cx="3383280" cy="1828800"/>
          </a:xfrm>
          <a:prstGeom prst="roundRect">
            <a:avLst/>
          </a:prstGeom>
          <a:solidFill>
            <a:srgbClr val="E3F7F4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88552" y="2404872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898648"/>
            <a:ext cx="260604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57086"/>
                </a:solidFill>
                <a:latin typeface="Aptos"/>
              </a:rPr>
              <a:t>Filter support should be explicit in the report.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3566160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>
                <a:solidFill>
                  <a:srgbClr val="0E9F93"/>
                </a:solidFill>
                <a:latin typeface="Aptos"/>
              </a:rPr>
              <a:t>css-filter warning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532120"/>
            <a:ext cx="12344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5779008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Aptos"/>
              </a:rPr>
              <a:t>Inline rich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705856"/>
            <a:ext cx="886968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50" b="0">
                <a:solidFill>
                  <a:srgbClr val="657086"/>
                </a:solidFill>
                <a:latin typeface="Aptos"/>
              </a:rPr>
              <a:t>This paragraph includes bold emphasis, italic nuance, and a safe link so the converter can test editable text runs.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B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070080" y="-1097280"/>
            <a:ext cx="3200400" cy="3200400"/>
          </a:xfrm>
          <a:prstGeom prst="ellipse">
            <a:avLst/>
          </a:prstGeom>
          <a:solidFill>
            <a:srgbClr val="DC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6217920"/>
            <a:ext cx="2926080" cy="2926080"/>
          </a:xfrm>
          <a:prstGeom prst="ellipse">
            <a:avLst/>
          </a:prstGeom>
          <a:solidFill>
            <a:srgbClr val="E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457200"/>
            <a:ext cx="4846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00" b="1">
                <a:solidFill>
                  <a:srgbClr val="657086"/>
                </a:solidFill>
                <a:latin typeface="Aptos"/>
              </a:rPr>
              <a:t>EXPORT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804672"/>
            <a:ext cx="8046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  <a:latin typeface="Aptos"/>
              </a:rPr>
              <a:t>Export 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95960" y="502920"/>
            <a:ext cx="5486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1200" b="1">
                <a:solidFill>
                  <a:srgbClr val="657086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011680"/>
          <a:ext cx="12298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40480"/>
                <a:gridCol w="4251960"/>
                <a:gridCol w="2011680"/>
              </a:tblGrid>
              <a:tr h="8458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6FED"/>
                          </a:solidFill>
                          <a:latin typeface="Aptos"/>
                        </a:rPr>
                        <a:t>Object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6FED"/>
                          </a:solidFill>
                          <a:latin typeface="Aptos"/>
                        </a:rPr>
                        <a:t>Expected PPTX result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6FED"/>
                          </a:solidFill>
                          <a:latin typeface="Aptos"/>
                        </a:rPr>
                        <a:t>Acceptance check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F6FED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72033"/>
                          </a:solidFill>
                          <a:latin typeface="Aptos"/>
                        </a:rPr>
                        <a:t>Slide 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Editable text 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Click and revise in PowerPoint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72033"/>
                          </a:solidFill>
                          <a:latin typeface="Aptos"/>
                        </a:rPr>
                        <a:t>Metric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Editable text plus rounded rectangles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Move one card without moving slide 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72033"/>
                          </a:solidFill>
                          <a:latin typeface="Aptos"/>
                        </a:rPr>
                        <a:t>SVG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Visible vector or image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Never blank, report editability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72033"/>
                          </a:solidFill>
                          <a:latin typeface="Aptos"/>
                        </a:rPr>
                        <a:t>Unsupported CSS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Raster fallback or warning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Warning code appears in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72033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Editable PowerPoint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Row and column counts preserved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72033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-1005840"/>
            <a:ext cx="4754880" cy="4754880"/>
          </a:xfrm>
          <a:prstGeom prst="ellipse">
            <a:avLst/>
          </a:prstGeom>
          <a:solidFill>
            <a:srgbClr val="235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206240"/>
            <a:ext cx="3657600" cy="3657600"/>
          </a:xfrm>
          <a:prstGeom prst="ellipse">
            <a:avLst/>
          </a:prstGeom>
          <a:solidFill>
            <a:srgbClr val="6B3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658368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DDE7F7"/>
                </a:solidFill>
                <a:latin typeface="Aptos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298448"/>
            <a:ext cx="9326880" cy="1828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Ship the export as a transparent hybrid, not a silent imitation.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474720"/>
            <a:ext cx="813816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50" b="0">
                <a:solidFill>
                  <a:srgbClr val="DDE7F7"/>
                </a:solidFill>
                <a:latin typeface="Aptos"/>
              </a:rPr>
              <a:t>When the deck can stay editable, keep it editable. When the browser uses effects PowerPoint cannot represent, preserve the look and tell the user what was flattened.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74920"/>
            <a:ext cx="3657600" cy="1508760"/>
          </a:xfrm>
          <a:prstGeom prst="roundRect">
            <a:avLst/>
          </a:prstGeom>
          <a:solidFill>
            <a:srgbClr val="263B5B"/>
          </a:solidFill>
          <a:ln w="12700">
            <a:solidFill>
              <a:srgbClr val="526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5376672"/>
            <a:ext cx="475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376672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DDE7F7"/>
                </a:solidFill>
                <a:latin typeface="Aptos"/>
              </a:rPr>
              <a:t>Start with deterministic fixtures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4648" y="5074920"/>
            <a:ext cx="3657600" cy="1508760"/>
          </a:xfrm>
          <a:prstGeom prst="roundRect">
            <a:avLst/>
          </a:prstGeom>
          <a:solidFill>
            <a:srgbClr val="263B5B"/>
          </a:solidFill>
          <a:ln w="12700">
            <a:solidFill>
              <a:srgbClr val="526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5376672"/>
            <a:ext cx="475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5376672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DDE7F7"/>
                </a:solidFill>
                <a:latin typeface="Aptos"/>
              </a:rPr>
              <a:t>Measure fidelity with renders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0615" y="5074920"/>
            <a:ext cx="3657600" cy="1508760"/>
          </a:xfrm>
          <a:prstGeom prst="roundRect">
            <a:avLst/>
          </a:prstGeom>
          <a:solidFill>
            <a:srgbClr val="263B5B"/>
          </a:solidFill>
          <a:ln w="12700">
            <a:solidFill>
              <a:srgbClr val="526C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56647" y="5376672"/>
            <a:ext cx="47548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9295" y="5376672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50" b="0">
                <a:solidFill>
                  <a:srgbClr val="DDE7F7"/>
                </a:solidFill>
                <a:latin typeface="Aptos"/>
              </a:rPr>
              <a:t>Expose every fallback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