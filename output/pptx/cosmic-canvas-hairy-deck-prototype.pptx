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1005840"/>
            <a:ext cx="4754880" cy="4754880"/>
          </a:xfrm>
          <a:prstGeom prst="ellipse">
            <a:avLst/>
          </a:prstGeom>
          <a:solidFill>
            <a:srgbClr val="235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206240"/>
            <a:ext cx="3657600" cy="3657600"/>
          </a:xfrm>
          <a:prstGeom prst="ellipse">
            <a:avLst/>
          </a:prstGeom>
          <a:solidFill>
            <a:srgbClr val="6B3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Parallelogram 4"/>
          <p:cNvSpPr/>
          <p:nvPr/>
        </p:nvSpPr>
        <p:spPr>
          <a:xfrm>
            <a:off x="9326880" y="640080"/>
            <a:ext cx="5394960" cy="5943600"/>
          </a:xfrm>
          <a:prstGeom prst="parallelogram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658368"/>
            <a:ext cx="5486400" cy="29260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DDE7F7"/>
                </a:solidFill>
                <a:latin typeface="Aptos"/>
              </a:rPr>
              <a:t>HELIOGRID LABS / OPERATING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508760"/>
            <a:ext cx="7543800" cy="2240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4700" b="1">
                <a:solidFill>
                  <a:srgbClr val="FFFFFF"/>
                </a:solidFill>
                <a:latin typeface="Aptos"/>
              </a:rPr>
              <a:t>Resilience systems for volatile energy markets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4069080"/>
            <a:ext cx="722376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0">
                <a:solidFill>
                  <a:srgbClr val="DDE7F7"/>
                </a:solidFill>
                <a:latin typeface="Aptos"/>
              </a:rPr>
              <a:t>Fictional 2026 executive presentation designed to stress HTML-to-PowerPoint conversion across layered layouts, editable text, complex cards, SVG charts, tables, and image-like CSS.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" y="5623560"/>
            <a:ext cx="1353312" cy="402336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5733288"/>
            <a:ext cx="115214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69" b="1">
                <a:solidFill>
                  <a:srgbClr val="2F6FED"/>
                </a:solidFill>
                <a:latin typeface="Aptos"/>
              </a:rPr>
              <a:t>Hybrid export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14016" y="5623560"/>
            <a:ext cx="1353312" cy="402336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05456" y="5733288"/>
            <a:ext cx="115214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69" b="1">
                <a:solidFill>
                  <a:srgbClr val="2F6FED"/>
                </a:solidFill>
                <a:latin typeface="Aptos"/>
              </a:rPr>
              <a:t>Editable objects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986784" y="5623560"/>
            <a:ext cx="1353312" cy="402336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078224" y="5733288"/>
            <a:ext cx="1152144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69" b="1">
                <a:solidFill>
                  <a:srgbClr val="2F6FED"/>
                </a:solidFill>
                <a:latin typeface="Aptos"/>
              </a:rPr>
              <a:t>Visual fallback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52760" y="5943600"/>
            <a:ext cx="2377440" cy="960120"/>
          </a:xfrm>
          <a:prstGeom prst="roundRect">
            <a:avLst/>
          </a:prstGeom>
          <a:solidFill>
            <a:srgbClr val="263B5B"/>
          </a:solidFill>
          <a:ln w="12700">
            <a:solidFill>
              <a:srgbClr val="526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0" y="6144768"/>
            <a:ext cx="786384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Q3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12880" y="6190488"/>
            <a:ext cx="1133856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DDE7F7"/>
                </a:solidFill>
                <a:latin typeface="Aptos"/>
              </a:rPr>
              <a:t>Board-ready prototype deck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EXECUTIVE SCORECARD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Executive Scorecard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737360"/>
            <a:ext cx="6217920" cy="5120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48256"/>
            <a:ext cx="5394960" cy="122529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000" b="1">
                <a:solidFill>
                  <a:srgbClr val="172033"/>
                </a:solidFill>
                <a:latin typeface="Aptos"/>
              </a:rPr>
              <a:t>Reliability improved while load volatility rose.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93008"/>
            <a:ext cx="5303520" cy="9144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657086"/>
                </a:solidFill>
                <a:latin typeface="Aptos"/>
              </a:rPr>
              <a:t>The grid simulator absorbed sharper demand swings, added faster failover paths, and reduced operator intervention during congestion events.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051560" y="5669280"/>
            <a:ext cx="1097280" cy="228600"/>
          </a:xfrm>
          <a:prstGeom prst="line">
            <a:avLst/>
          </a:prstGeom>
          <a:ln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148840" y="5669280"/>
            <a:ext cx="914400" cy="137160"/>
          </a:xfrm>
          <a:prstGeom prst="line">
            <a:avLst/>
          </a:prstGeom>
          <a:ln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63240" y="5230368"/>
            <a:ext cx="1005840" cy="576072"/>
          </a:xfrm>
          <a:prstGeom prst="line">
            <a:avLst/>
          </a:prstGeom>
          <a:ln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069080" y="4709160"/>
            <a:ext cx="914400" cy="521208"/>
          </a:xfrm>
          <a:prstGeom prst="line">
            <a:avLst/>
          </a:prstGeom>
          <a:ln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983480" y="4709160"/>
            <a:ext cx="777240" cy="118872"/>
          </a:xfrm>
          <a:prstGeom prst="line">
            <a:avLst/>
          </a:prstGeom>
          <a:ln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760720" y="4370832"/>
            <a:ext cx="685800" cy="457200"/>
          </a:xfrm>
          <a:prstGeom prst="line">
            <a:avLst/>
          </a:prstGeom>
          <a:ln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6336792" y="4261104"/>
            <a:ext cx="219456" cy="219456"/>
          </a:xfrm>
          <a:prstGeom prst="ellipse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88352" y="1737360"/>
            <a:ext cx="2852928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88352" y="1737360"/>
            <a:ext cx="109728" cy="2176272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44383" y="1956815"/>
            <a:ext cx="2468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99.3%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44383" y="2542032"/>
            <a:ext cx="24688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scenario service level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88752" y="1737360"/>
            <a:ext cx="2852928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588752" y="1737360"/>
            <a:ext cx="109728" cy="2176272"/>
          </a:xfrm>
          <a:prstGeom prst="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44784" y="1956815"/>
            <a:ext cx="2468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-18%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44784" y="2542032"/>
            <a:ext cx="24688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manual intervention hours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88352" y="4407408"/>
            <a:ext cx="2852928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88352" y="4407408"/>
            <a:ext cx="109728" cy="2176272"/>
          </a:xfrm>
          <a:prstGeom prst="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44383" y="4626864"/>
            <a:ext cx="2468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41 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44383" y="5212080"/>
            <a:ext cx="24688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median dispatch latency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588752" y="4407408"/>
            <a:ext cx="2852928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588752" y="4407408"/>
            <a:ext cx="109728" cy="2176272"/>
          </a:xfrm>
          <a:prstGeom prst="rect">
            <a:avLst/>
          </a:prstGeom>
          <a:solidFill>
            <a:srgbClr val="E4A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44784" y="4626864"/>
            <a:ext cx="2468880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7.4x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44784" y="5212080"/>
            <a:ext cx="2468880" cy="12618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stress-test throughput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NETWORK SIMULATION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Resilience Network 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664208"/>
            <a:ext cx="13030200" cy="5870448"/>
          </a:xfrm>
          <a:prstGeom prst="roundRect">
            <a:avLst/>
          </a:prstGeom>
          <a:solidFill>
            <a:srgbClr val="EDF5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1417320" y="2011680"/>
            <a:ext cx="2514600" cy="1234440"/>
          </a:xfrm>
          <a:prstGeom prst="line">
            <a:avLst/>
          </a:prstGeom>
          <a:ln w="50800"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3931920" y="2011680"/>
            <a:ext cx="2606040" cy="1874520"/>
          </a:xfrm>
          <a:prstGeom prst="line">
            <a:avLst/>
          </a:prstGeom>
          <a:ln w="50800">
            <a:solidFill>
              <a:srgbClr val="2F6F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37960" y="2926080"/>
            <a:ext cx="4160520" cy="960120"/>
          </a:xfrm>
          <a:prstGeom prst="line">
            <a:avLst/>
          </a:prstGeom>
          <a:ln w="50800">
            <a:solidFill>
              <a:srgbClr val="0E9F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331720" y="3886200"/>
            <a:ext cx="4206240" cy="1691640"/>
          </a:xfrm>
          <a:prstGeom prst="line">
            <a:avLst/>
          </a:prstGeom>
          <a:ln w="50800">
            <a:solidFill>
              <a:srgbClr val="0E9F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537960" y="3886200"/>
            <a:ext cx="5303520" cy="1691640"/>
          </a:xfrm>
          <a:prstGeom prst="line">
            <a:avLst/>
          </a:prstGeom>
          <a:ln w="50800">
            <a:solidFill>
              <a:srgbClr val="F06B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143000" y="2578608"/>
            <a:ext cx="1417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706624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N-01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62656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657086"/>
                </a:solidFill>
                <a:latin typeface="Aptos"/>
              </a:rPr>
              <a:t>solar basin</a:t>
            </a:r>
          </a:p>
        </p:txBody>
      </p:sp>
      <p:sp>
        <p:nvSpPr>
          <p:cNvPr id="17" name="Oval 16"/>
          <p:cNvSpPr/>
          <p:nvPr/>
        </p:nvSpPr>
        <p:spPr>
          <a:xfrm>
            <a:off x="2167128" y="2779776"/>
            <a:ext cx="256032" cy="256032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657600" y="1828800"/>
            <a:ext cx="1417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794760" y="1956816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N-08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2212848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657086"/>
                </a:solidFill>
                <a:latin typeface="Aptos"/>
              </a:rPr>
              <a:t>battery hub</a:t>
            </a:r>
          </a:p>
        </p:txBody>
      </p:sp>
      <p:sp>
        <p:nvSpPr>
          <p:cNvPr id="21" name="Oval 20"/>
          <p:cNvSpPr/>
          <p:nvPr/>
        </p:nvSpPr>
        <p:spPr>
          <a:xfrm>
            <a:off x="4681728" y="2029968"/>
            <a:ext cx="256032" cy="256032"/>
          </a:xfrm>
          <a:prstGeom prst="ellipse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61888" y="3337560"/>
            <a:ext cx="1417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9048" y="3465576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N-12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9048" y="3721608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657086"/>
                </a:solidFill>
                <a:latin typeface="Aptos"/>
              </a:rPr>
              <a:t>market bridge</a:t>
            </a:r>
          </a:p>
        </p:txBody>
      </p:sp>
      <p:sp>
        <p:nvSpPr>
          <p:cNvPr id="25" name="Oval 24"/>
          <p:cNvSpPr/>
          <p:nvPr/>
        </p:nvSpPr>
        <p:spPr>
          <a:xfrm>
            <a:off x="6986016" y="3538728"/>
            <a:ext cx="256032" cy="256032"/>
          </a:xfrm>
          <a:prstGeom prst="ellipse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0104120" y="2697480"/>
            <a:ext cx="1417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41280" y="2825496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N-21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3081528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657086"/>
                </a:solidFill>
                <a:latin typeface="Aptos"/>
              </a:rPr>
              <a:t>industrial load</a:t>
            </a:r>
          </a:p>
        </p:txBody>
      </p:sp>
      <p:sp>
        <p:nvSpPr>
          <p:cNvPr id="29" name="Oval 28"/>
          <p:cNvSpPr/>
          <p:nvPr/>
        </p:nvSpPr>
        <p:spPr>
          <a:xfrm>
            <a:off x="11128248" y="2898648"/>
            <a:ext cx="256032" cy="256032"/>
          </a:xfrm>
          <a:prstGeom prst="ellipse">
            <a:avLst/>
          </a:prstGeom>
          <a:solidFill>
            <a:srgbClr val="E4A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1265408" y="5166360"/>
            <a:ext cx="1417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02568" y="5294376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N-34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02568" y="5550408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657086"/>
                </a:solidFill>
                <a:latin typeface="Aptos"/>
              </a:rPr>
              <a:t>coastal reserve</a:t>
            </a:r>
          </a:p>
        </p:txBody>
      </p:sp>
      <p:sp>
        <p:nvSpPr>
          <p:cNvPr id="33" name="Oval 32"/>
          <p:cNvSpPr/>
          <p:nvPr/>
        </p:nvSpPr>
        <p:spPr>
          <a:xfrm>
            <a:off x="12289536" y="5367528"/>
            <a:ext cx="256032" cy="256032"/>
          </a:xfrm>
          <a:prstGeom prst="ellipse">
            <a:avLst/>
          </a:prstGeom>
          <a:solidFill>
            <a:srgbClr val="704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2468880" y="5394960"/>
            <a:ext cx="1417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606040" y="5522976"/>
            <a:ext cx="73152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1">
                <a:solidFill>
                  <a:srgbClr val="172033"/>
                </a:solidFill>
                <a:latin typeface="Aptos"/>
              </a:rPr>
              <a:t>N-55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5779008"/>
            <a:ext cx="1005840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850" b="1">
                <a:solidFill>
                  <a:srgbClr val="657086"/>
                </a:solidFill>
                <a:latin typeface="Aptos"/>
              </a:rPr>
              <a:t>microgrid</a:t>
            </a:r>
          </a:p>
        </p:txBody>
      </p:sp>
      <p:sp>
        <p:nvSpPr>
          <p:cNvPr id="37" name="Oval 36"/>
          <p:cNvSpPr/>
          <p:nvPr/>
        </p:nvSpPr>
        <p:spPr>
          <a:xfrm>
            <a:off x="3493008" y="5596128"/>
            <a:ext cx="256032" cy="256032"/>
          </a:xfrm>
          <a:prstGeom prst="ellipse">
            <a:avLst/>
          </a:prstGeom>
          <a:solidFill>
            <a:srgbClr val="9CC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FORECAST ENVELOPE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Demand Forecast Envelope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" y="1828800"/>
            <a:ext cx="6766560" cy="5413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43000" y="4741164"/>
            <a:ext cx="402336" cy="1248156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Jan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56232" y="4503420"/>
            <a:ext cx="402336" cy="1485900"/>
          </a:xfrm>
          <a:prstGeom prst="round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10512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Feb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69464" y="4295394"/>
            <a:ext cx="402336" cy="1693925"/>
          </a:xfrm>
          <a:prstGeom prst="round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23744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Mar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82696" y="3849624"/>
            <a:ext cx="402336" cy="2139696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36976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Apr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95928" y="4027931"/>
            <a:ext cx="402336" cy="1961388"/>
          </a:xfrm>
          <a:prstGeom prst="round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950208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May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09160" y="3582161"/>
            <a:ext cx="402336" cy="2407158"/>
          </a:xfrm>
          <a:prstGeom prst="round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63440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Jun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22392" y="3760470"/>
            <a:ext cx="402336" cy="2228850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76672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Jul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35624" y="3374136"/>
            <a:ext cx="402336" cy="2615184"/>
          </a:xfrm>
          <a:prstGeom prst="round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89904" y="6163056"/>
            <a:ext cx="493776" cy="1645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850" b="1">
                <a:solidFill>
                  <a:srgbClr val="657086"/>
                </a:solidFill>
                <a:latin typeface="Aptos"/>
              </a:rPr>
              <a:t>Aug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828800"/>
            <a:ext cx="5870448" cy="5413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2194560"/>
            <a:ext cx="384048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200" b="1">
                <a:solidFill>
                  <a:srgbClr val="172033"/>
                </a:solidFill>
                <a:latin typeface="Aptos"/>
              </a:rPr>
              <a:t>Conversion stressors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761488"/>
            <a:ext cx="4937760" cy="10972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500" b="0">
                <a:solidFill>
                  <a:srgbClr val="657086"/>
                </a:solidFill>
                <a:latin typeface="Aptos"/>
              </a:rPr>
              <a:t>This slide mixes grid layout, variable-height bars, rounded objects, text labels, and a paragraph column that should remain editable.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75320" y="4434840"/>
            <a:ext cx="1847088" cy="38404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75904" y="4535424"/>
            <a:ext cx="1627632" cy="155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2F6FED"/>
                </a:solidFill>
                <a:latin typeface="Aptos"/>
              </a:rPr>
              <a:t>native bars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51592" y="4434840"/>
            <a:ext cx="1847088" cy="38404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52176" y="4535424"/>
            <a:ext cx="1627632" cy="155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2F6FED"/>
                </a:solidFill>
                <a:latin typeface="Aptos"/>
              </a:rPr>
              <a:t>editable labels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75320" y="5093207"/>
            <a:ext cx="1847088" cy="38404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75904" y="5193792"/>
            <a:ext cx="1627632" cy="155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2F6FED"/>
                </a:solidFill>
                <a:latin typeface="Aptos"/>
              </a:rPr>
              <a:t>axis fallback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51592" y="5093207"/>
            <a:ext cx="1847088" cy="38404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B7C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552176" y="5193792"/>
            <a:ext cx="1627632" cy="155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00" b="1">
                <a:solidFill>
                  <a:srgbClr val="2F6FED"/>
                </a:solidFill>
                <a:latin typeface="Aptos"/>
              </a:rPr>
              <a:t>color mapping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CUSTOMER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Customer Signal Segments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20240"/>
            <a:ext cx="388620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600200" y="2505456"/>
            <a:ext cx="2331720" cy="2331720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993392" y="2898648"/>
            <a:ext cx="1536192" cy="1536192"/>
          </a:xfrm>
          <a:prstGeom prst="ellipse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58568" y="3401568"/>
            <a:ext cx="1005840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2800" b="1">
                <a:solidFill>
                  <a:srgbClr val="172033"/>
                </a:solidFill>
                <a:latin typeface="Aptos"/>
              </a:rPr>
              <a:t>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61872" y="5230368"/>
            <a:ext cx="2980944" cy="8046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400" b="0">
                <a:solidFill>
                  <a:srgbClr val="657086"/>
                </a:solidFill>
                <a:latin typeface="Aptos"/>
              </a:rPr>
              <a:t>Accounts ready for guided automation after simulation replay.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74920" y="1920240"/>
            <a:ext cx="3886200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74920" y="1920240"/>
            <a:ext cx="109728" cy="221284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30952" y="2139696"/>
            <a:ext cx="35021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Utilities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2724912"/>
            <a:ext cx="3502152" cy="1298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faster outage playbooks, high compliance pressure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54896" y="1920240"/>
            <a:ext cx="3886200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454896" y="1920240"/>
            <a:ext cx="109728" cy="2212848"/>
          </a:xfrm>
          <a:prstGeom prst="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10928" y="2139696"/>
            <a:ext cx="35021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Retailers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10928" y="2724912"/>
            <a:ext cx="3502152" cy="1298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margin protection, load shaping, churn signals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4617720"/>
            <a:ext cx="3886200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74920" y="4617720"/>
            <a:ext cx="109728" cy="2212848"/>
          </a:xfrm>
          <a:prstGeom prst="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30952" y="4837176"/>
            <a:ext cx="35021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Storage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0952" y="5422392"/>
            <a:ext cx="3502152" cy="1298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new arbitrage paths, sharper bidding rules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54896" y="4617720"/>
            <a:ext cx="3886200" cy="22128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54896" y="4617720"/>
            <a:ext cx="109728" cy="2212848"/>
          </a:xfrm>
          <a:prstGeom prst="rect">
            <a:avLst/>
          </a:prstGeom>
          <a:solidFill>
            <a:srgbClr val="E4A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10928" y="4837176"/>
            <a:ext cx="3502152" cy="4572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Campuses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10928" y="5422392"/>
            <a:ext cx="3502152" cy="12984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657086"/>
                </a:solidFill>
                <a:latin typeface="Aptos"/>
              </a:rPr>
              <a:t>microgrid autonomy, local reporting needs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INCIDENT REPLAY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Incident Replay Timeline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06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234440" y="3273552"/>
            <a:ext cx="11795760" cy="0"/>
          </a:xfrm>
          <a:prstGeom prst="line">
            <a:avLst/>
          </a:prstGeom>
          <a:ln w="50800">
            <a:solidFill>
              <a:srgbClr val="0E9F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078992" y="289864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96112" y="3721608"/>
            <a:ext cx="2103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995928"/>
            <a:ext cx="914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02:10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453128"/>
            <a:ext cx="162763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Forecast drift crosses alert threshold.</a:t>
            </a:r>
          </a:p>
        </p:txBody>
      </p:sp>
      <p:sp>
        <p:nvSpPr>
          <p:cNvPr id="13" name="Oval 12"/>
          <p:cNvSpPr/>
          <p:nvPr/>
        </p:nvSpPr>
        <p:spPr>
          <a:xfrm>
            <a:off x="3685032" y="289864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02152" y="3721608"/>
            <a:ext cx="2103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3995928"/>
            <a:ext cx="914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02:28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03320" y="4453128"/>
            <a:ext cx="162763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Storage bids rebalanced across three zones.</a:t>
            </a:r>
          </a:p>
        </p:txBody>
      </p:sp>
      <p:sp>
        <p:nvSpPr>
          <p:cNvPr id="17" name="Oval 16"/>
          <p:cNvSpPr/>
          <p:nvPr/>
        </p:nvSpPr>
        <p:spPr>
          <a:xfrm>
            <a:off x="6291072" y="289864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08192" y="3721608"/>
            <a:ext cx="2103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3995928"/>
            <a:ext cx="914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03:05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4453128"/>
            <a:ext cx="162763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Congestion route opened before market close.</a:t>
            </a:r>
          </a:p>
        </p:txBody>
      </p:sp>
      <p:sp>
        <p:nvSpPr>
          <p:cNvPr id="21" name="Oval 20"/>
          <p:cNvSpPr/>
          <p:nvPr/>
        </p:nvSpPr>
        <p:spPr>
          <a:xfrm>
            <a:off x="8897112" y="289864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14232" y="3721608"/>
            <a:ext cx="2103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15400" y="3995928"/>
            <a:ext cx="914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03:44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4453128"/>
            <a:ext cx="162763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Operator review confirms automatic mitigation.</a:t>
            </a:r>
          </a:p>
        </p:txBody>
      </p:sp>
      <p:sp>
        <p:nvSpPr>
          <p:cNvPr id="25" name="Oval 24"/>
          <p:cNvSpPr/>
          <p:nvPr/>
        </p:nvSpPr>
        <p:spPr>
          <a:xfrm>
            <a:off x="11503152" y="2898648"/>
            <a:ext cx="420624" cy="42062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11320272" y="3721608"/>
            <a:ext cx="2103120" cy="21762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521440" y="3995928"/>
            <a:ext cx="9144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04:20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521440" y="4453128"/>
            <a:ext cx="1627632" cy="6583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Post-event replay updates future policy.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DECISION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Decision 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22860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72033"/>
                </a:solidFill>
                <a:latin typeface="Aptos"/>
              </a:rPr>
              <a:t>Observe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2468880"/>
            <a:ext cx="3429000" cy="74980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2697480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Telemetry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602736"/>
            <a:ext cx="3429000" cy="74980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831336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Market prices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736592"/>
            <a:ext cx="3429000" cy="749808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96519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Weather envelope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26280" y="3840480"/>
            <a:ext cx="576072" cy="0"/>
          </a:xfrm>
          <a:prstGeom prst="line">
            <a:avLst/>
          </a:prstGeom>
          <a:ln w="25400">
            <a:solidFill>
              <a:srgbClr val="6570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303520" y="1847088"/>
            <a:ext cx="22860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72033"/>
                </a:solidFill>
                <a:latin typeface="Aptos"/>
              </a:rPr>
              <a:t>Simulate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303520" y="2468880"/>
            <a:ext cx="3429000" cy="749808"/>
          </a:xfrm>
          <a:prstGeom prst="roundRect">
            <a:avLst/>
          </a:prstGeom>
          <a:solidFill>
            <a:srgbClr val="E3F7F4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32120" y="2697480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Scenario expansion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303520" y="3602736"/>
            <a:ext cx="3429000" cy="749808"/>
          </a:xfrm>
          <a:prstGeom prst="roundRect">
            <a:avLst/>
          </a:prstGeom>
          <a:solidFill>
            <a:srgbClr val="E3F7F4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32120" y="3831336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Constraint solver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4736592"/>
            <a:ext cx="3429000" cy="749808"/>
          </a:xfrm>
          <a:prstGeom prst="roundRect">
            <a:avLst/>
          </a:prstGeom>
          <a:solidFill>
            <a:srgbClr val="E3F7F4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496519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Replay ledger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840480"/>
            <a:ext cx="576072" cy="0"/>
          </a:xfrm>
          <a:prstGeom prst="line">
            <a:avLst/>
          </a:prstGeom>
          <a:ln w="25400">
            <a:solidFill>
              <a:srgbClr val="6570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692640" y="1847088"/>
            <a:ext cx="228600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000" b="1">
                <a:solidFill>
                  <a:srgbClr val="172033"/>
                </a:solidFill>
                <a:latin typeface="Aptos"/>
              </a:rPr>
              <a:t>Act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2468880"/>
            <a:ext cx="3429000" cy="749808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21240" y="2697480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Dispatch policy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92640" y="3602736"/>
            <a:ext cx="3429000" cy="749808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921240" y="3831336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Operator approval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692640" y="4736592"/>
            <a:ext cx="3429000" cy="749808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4965192"/>
            <a:ext cx="256032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1">
                <a:solidFill>
                  <a:srgbClr val="172033"/>
                </a:solidFill>
                <a:latin typeface="Aptos"/>
              </a:rPr>
              <a:t>Audit package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FINANCIAL BRIDGE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Financial Bridge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847088"/>
            <a:ext cx="12801600" cy="5440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389888" y="3794760"/>
            <a:ext cx="960120" cy="1828800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25296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Baseline
$42M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17520" y="4572000"/>
            <a:ext cx="960120" cy="1051560"/>
          </a:xfrm>
          <a:prstGeom prst="round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52927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Storage
+8.2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45152" y="4800600"/>
            <a:ext cx="960120" cy="822960"/>
          </a:xfrm>
          <a:prstGeom prst="round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Dispatch
+5.4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72783" y="5029200"/>
            <a:ext cx="960120" cy="594360"/>
          </a:xfrm>
          <a:prstGeom prst="round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08192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Weather
-3.1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0416" y="4663440"/>
            <a:ext cx="960120" cy="960120"/>
          </a:xfrm>
          <a:prstGeom prst="round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35824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Automation
+7.0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28048" y="5148072"/>
            <a:ext cx="960120" cy="475488"/>
          </a:xfrm>
          <a:prstGeom prst="round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63456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Latency
-1.5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155680" y="2560320"/>
            <a:ext cx="960120" cy="3063240"/>
          </a:xfrm>
          <a:prstGeom prst="round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91088" y="5870448"/>
            <a:ext cx="1280160" cy="43891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950" b="1">
                <a:solidFill>
                  <a:srgbClr val="657086"/>
                </a:solidFill>
                <a:latin typeface="Aptos"/>
              </a:rPr>
              <a:t>Plan
$58M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RISK HEATMAP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Risk Heatmap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965960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12848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1965960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54096" y="2212848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20640" y="1965960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2212848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Model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60336" y="1965960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33488" y="2212848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Ops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400032" y="1965960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73184" y="2212848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Policy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39728" y="1965960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12880" y="2212848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Security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41248" y="2807208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54096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Low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80944" y="2807208"/>
            <a:ext cx="2048255" cy="731520"/>
          </a:xfrm>
          <a:prstGeom prst="roundRect">
            <a:avLst/>
          </a:prstGeom>
          <a:solidFill>
            <a:srgbClr val="DFF6ED"/>
          </a:solidFill>
          <a:ln w="12700">
            <a:solidFill>
              <a:srgbClr val="A5E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54096" y="3054096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0D6F65"/>
                </a:solidFill>
                <a:latin typeface="Aptos"/>
              </a:rPr>
              <a:t>clean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2807208"/>
            <a:ext cx="2048255" cy="731520"/>
          </a:xfrm>
          <a:prstGeom prst="roundRect">
            <a:avLst/>
          </a:prstGeom>
          <a:solidFill>
            <a:srgbClr val="DFF6ED"/>
          </a:solidFill>
          <a:ln w="12700">
            <a:solidFill>
              <a:srgbClr val="A5E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054096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0D6F65"/>
                </a:solidFill>
                <a:latin typeface="Aptos"/>
              </a:rPr>
              <a:t>stable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260336" y="2807208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054096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handoff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00032" y="2807208"/>
            <a:ext cx="2048255" cy="731520"/>
          </a:xfrm>
          <a:prstGeom prst="roundRect">
            <a:avLst/>
          </a:prstGeom>
          <a:solidFill>
            <a:srgbClr val="DFF6ED"/>
          </a:solidFill>
          <a:ln w="12700">
            <a:solidFill>
              <a:srgbClr val="A5E4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473184" y="3054096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0D6F65"/>
                </a:solidFill>
                <a:latin typeface="Aptos"/>
              </a:rPr>
              <a:t>clear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39728" y="2807208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12880" y="3054096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rotate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41248" y="3648456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4400" y="3895344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Medium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980944" y="3648456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54096" y="3895344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lag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120640" y="3648456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93792" y="3895344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drift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260336" y="3648456"/>
            <a:ext cx="2048255" cy="731520"/>
          </a:xfrm>
          <a:prstGeom prst="roundRect">
            <a:avLst/>
          </a:prstGeom>
          <a:solidFill>
            <a:srgbClr val="FFD8D1"/>
          </a:solidFill>
          <a:ln w="12700">
            <a:solidFill>
              <a:srgbClr val="F4B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33488" y="3895344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A02F21"/>
                </a:solidFill>
                <a:latin typeface="Aptos"/>
              </a:rPr>
              <a:t>coverage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400032" y="3648456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73184" y="3895344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review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39728" y="3648456"/>
            <a:ext cx="2048255" cy="731520"/>
          </a:xfrm>
          <a:prstGeom prst="roundRect">
            <a:avLst/>
          </a:prstGeom>
          <a:solidFill>
            <a:srgbClr val="FFD8D1"/>
          </a:solidFill>
          <a:ln w="12700">
            <a:solidFill>
              <a:srgbClr val="F4B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12880" y="3895344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A02F21"/>
                </a:solidFill>
                <a:latin typeface="Aptos"/>
              </a:rPr>
              <a:t>scope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41248" y="4489704"/>
            <a:ext cx="2048255" cy="731520"/>
          </a:xfrm>
          <a:prstGeom prst="round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4400" y="4736592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657086"/>
                </a:solidFill>
                <a:latin typeface="Aptos"/>
              </a:rPr>
              <a:t>High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980944" y="4489704"/>
            <a:ext cx="2048255" cy="731520"/>
          </a:xfrm>
          <a:prstGeom prst="roundRect">
            <a:avLst/>
          </a:prstGeom>
          <a:solidFill>
            <a:srgbClr val="FFD8D1"/>
          </a:solidFill>
          <a:ln w="12700">
            <a:solidFill>
              <a:srgbClr val="F4B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54096" y="4736592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A02F21"/>
                </a:solidFill>
                <a:latin typeface="Aptos"/>
              </a:rPr>
              <a:t>missing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20640" y="4489704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93792" y="4736592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stress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260336" y="4489704"/>
            <a:ext cx="2048255" cy="731520"/>
          </a:xfrm>
          <a:prstGeom prst="roundRect">
            <a:avLst/>
          </a:prstGeom>
          <a:solidFill>
            <a:srgbClr val="FFD8D1"/>
          </a:solidFill>
          <a:ln w="12700">
            <a:solidFill>
              <a:srgbClr val="F4B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33488" y="4736592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A02F21"/>
                </a:solidFill>
                <a:latin typeface="Aptos"/>
              </a:rPr>
              <a:t>manual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400032" y="4489704"/>
            <a:ext cx="2048255" cy="731520"/>
          </a:xfrm>
          <a:prstGeom prst="roundRect">
            <a:avLst/>
          </a:prstGeom>
          <a:solidFill>
            <a:srgbClr val="FFD8D1"/>
          </a:solidFill>
          <a:ln w="12700">
            <a:solidFill>
              <a:srgbClr val="F4B4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473184" y="4736592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A02F21"/>
                </a:solidFill>
                <a:latin typeface="Aptos"/>
              </a:rPr>
              <a:t>audit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539728" y="4489704"/>
            <a:ext cx="2048255" cy="731520"/>
          </a:xfrm>
          <a:prstGeom prst="roundRect">
            <a:avLst/>
          </a:prstGeom>
          <a:solidFill>
            <a:srgbClr val="FFF0C2"/>
          </a:solidFill>
          <a:ln w="12700">
            <a:solidFill>
              <a:srgbClr val="E9CC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1612880" y="4736592"/>
            <a:ext cx="1883663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8A5B00"/>
                </a:solidFill>
                <a:latin typeface="Aptos"/>
              </a:rPr>
              <a:t>identity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LAUNCH WORKSTREAMS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Launch Workstreams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2944368" cy="534924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139696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Design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42416" y="2651760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042416" y="2651760"/>
            <a:ext cx="73152" cy="74980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25296" y="2852928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Export report states tradeoffs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2416" y="3675887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42416" y="3675887"/>
            <a:ext cx="73152" cy="74980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25296" y="3877055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Mode labels match user intent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42416" y="4700016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42416" y="4700016"/>
            <a:ext cx="73152" cy="74980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25296" y="4901184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PowerPoint icon appears in menu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69664" y="1847088"/>
            <a:ext cx="2944368" cy="534924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98264" y="2139696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Build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0832" y="2651760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70832" y="2651760"/>
            <a:ext cx="73152" cy="749808"/>
          </a:xfrm>
          <a:prstGeom prst="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53712" y="2852928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Slide extraction module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0832" y="3675887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0832" y="3675887"/>
            <a:ext cx="73152" cy="749808"/>
          </a:xfrm>
          <a:prstGeom prst="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3877055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Editable text converter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0832" y="4700016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70832" y="4700016"/>
            <a:ext cx="73152" cy="749808"/>
          </a:xfrm>
          <a:prstGeom prst="rect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53712" y="4901184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Shape and table support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80" y="1847088"/>
            <a:ext cx="2944368" cy="534924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80" y="2139696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Verify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699248" y="2651760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99248" y="2651760"/>
            <a:ext cx="73152" cy="749808"/>
          </a:xfrm>
          <a:prstGeom prst="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882128" y="2852928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Hairy fixture visual diff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99248" y="3675887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99248" y="3675887"/>
            <a:ext cx="73152" cy="749808"/>
          </a:xfrm>
          <a:prstGeom prst="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8" y="3877055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LibreOffice render smoke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699248" y="4700016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699248" y="4700016"/>
            <a:ext cx="73152" cy="749808"/>
          </a:xfrm>
          <a:prstGeom prst="rect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82128" y="4901184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XML object count checks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826496" y="1847088"/>
            <a:ext cx="2944368" cy="5349240"/>
          </a:xfrm>
          <a:prstGeom prst="roundRect">
            <a:avLst/>
          </a:prstGeom>
          <a:solidFill>
            <a:srgbClr val="F5F7FB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055096" y="2139696"/>
            <a:ext cx="164592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800" b="1">
                <a:solidFill>
                  <a:srgbClr val="172033"/>
                </a:solidFill>
                <a:latin typeface="Aptos"/>
              </a:rPr>
              <a:t>Ship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027664" y="2651760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027664" y="2651760"/>
            <a:ext cx="73152" cy="749808"/>
          </a:xfrm>
          <a:prstGeom prst="rect">
            <a:avLst/>
          </a:prstGeom>
          <a:solidFill>
            <a:srgbClr val="E4A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10544" y="2852928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README caveats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027664" y="3675887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027664" y="3675887"/>
            <a:ext cx="73152" cy="749808"/>
          </a:xfrm>
          <a:prstGeom prst="rect">
            <a:avLst/>
          </a:prstGeom>
          <a:solidFill>
            <a:srgbClr val="E4A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210544" y="3877055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VS Code webview path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1027664" y="4700016"/>
            <a:ext cx="2450592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1027664" y="4700016"/>
            <a:ext cx="73152" cy="749808"/>
          </a:xfrm>
          <a:prstGeom prst="rect">
            <a:avLst/>
          </a:prstGeom>
          <a:solidFill>
            <a:srgbClr val="E4A7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210544" y="4901184"/>
            <a:ext cx="192024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20" b="1">
                <a:solidFill>
                  <a:srgbClr val="172033"/>
                </a:solidFill>
                <a:latin typeface="Aptos"/>
              </a:rPr>
              <a:t>Regression harness in 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COMPETITIVE FIELD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Competitive Field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1828800"/>
            <a:ext cx="12801600" cy="5440680"/>
          </a:xfrm>
          <a:prstGeom prst="roundRect">
            <a:avLst/>
          </a:prstGeom>
          <a:solidFill>
            <a:srgbClr val="FFFAF0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7269480" y="1965960"/>
            <a:ext cx="0" cy="5093208"/>
          </a:xfrm>
          <a:prstGeom prst="line">
            <a:avLst/>
          </a:prstGeom>
          <a:ln w="19050">
            <a:solidFill>
              <a:srgbClr val="9AA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24128" y="4526280"/>
            <a:ext cx="12435840" cy="0"/>
          </a:xfrm>
          <a:prstGeom prst="line">
            <a:avLst/>
          </a:prstGeom>
          <a:ln w="19050">
            <a:solidFill>
              <a:srgbClr val="9AA5B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2743200" y="5212080"/>
            <a:ext cx="1078992" cy="1078992"/>
          </a:xfrm>
          <a:prstGeom prst="ellipse">
            <a:avLst/>
          </a:prstGeom>
          <a:solidFill>
            <a:srgbClr val="7047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07792" y="5522976"/>
            <a:ext cx="74980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PDF
print</a:t>
            </a:r>
          </a:p>
        </p:txBody>
      </p:sp>
      <p:sp>
        <p:nvSpPr>
          <p:cNvPr id="13" name="Oval 12"/>
          <p:cNvSpPr/>
          <p:nvPr/>
        </p:nvSpPr>
        <p:spPr>
          <a:xfrm>
            <a:off x="5577840" y="3154680"/>
            <a:ext cx="1078992" cy="1078992"/>
          </a:xfrm>
          <a:prstGeom prst="ellipse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42431" y="3465576"/>
            <a:ext cx="74980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Hybrid
PPTX</a:t>
            </a:r>
          </a:p>
        </p:txBody>
      </p:sp>
      <p:sp>
        <p:nvSpPr>
          <p:cNvPr id="15" name="Oval 14"/>
          <p:cNvSpPr/>
          <p:nvPr/>
        </p:nvSpPr>
        <p:spPr>
          <a:xfrm>
            <a:off x="9418320" y="4572000"/>
            <a:ext cx="1078992" cy="1078992"/>
          </a:xfrm>
          <a:prstGeom prst="ellipse">
            <a:avLst/>
          </a:prstGeom>
          <a:solidFill>
            <a:srgbClr val="0E9F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82912" y="4882896"/>
            <a:ext cx="74980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Native
deck</a:t>
            </a:r>
          </a:p>
        </p:txBody>
      </p:sp>
      <p:sp>
        <p:nvSpPr>
          <p:cNvPr id="17" name="Oval 16"/>
          <p:cNvSpPr/>
          <p:nvPr/>
        </p:nvSpPr>
        <p:spPr>
          <a:xfrm>
            <a:off x="11155680" y="2788920"/>
            <a:ext cx="1078992" cy="1078992"/>
          </a:xfrm>
          <a:prstGeom prst="ellipse">
            <a:avLst/>
          </a:prstGeom>
          <a:solidFill>
            <a:srgbClr val="F06B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20272" y="3099815"/>
            <a:ext cx="749808" cy="3657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Aptos"/>
              </a:rPr>
              <a:t>Ideal
future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6903720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0">
                <a:solidFill>
                  <a:srgbClr val="657086"/>
                </a:solidFill>
                <a:latin typeface="Aptos"/>
              </a:rPr>
              <a:t>lower visual parity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01400" y="6903720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000" b="0">
                <a:solidFill>
                  <a:srgbClr val="657086"/>
                </a:solidFill>
                <a:latin typeface="Aptos"/>
              </a:rPr>
              <a:t>higher visual parity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3121640" y="3657600"/>
            <a:ext cx="123444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higher editability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FIDELITY STRESS TRAP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Fidelity Stress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 rot="21480000">
            <a:off x="868680" y="2148840"/>
            <a:ext cx="3383280" cy="1828800"/>
          </a:xfrm>
          <a:prstGeom prst="roundRect">
            <a:avLst/>
          </a:prstGeom>
          <a:solidFill>
            <a:srgbClr val="EAF1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2404872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Rotated card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2898648"/>
            <a:ext cx="26060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Editable conversion should either preserve rotation or warn.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800600" y="2148840"/>
            <a:ext cx="3383280" cy="1828800"/>
          </a:xfrm>
          <a:prstGeom prst="roundRect">
            <a:avLst/>
          </a:prstGeom>
          <a:solidFill>
            <a:srgbClr val="FFE5D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56632" y="2404872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Clip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56632" y="2898648"/>
            <a:ext cx="26060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This should trigger a fallback warning.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56632" y="3566160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F06B58"/>
                </a:solidFill>
                <a:latin typeface="Aptos"/>
              </a:rPr>
              <a:t>css-clip-path warning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732520" y="2148840"/>
            <a:ext cx="3383280" cy="1828800"/>
          </a:xfrm>
          <a:prstGeom prst="roundRect">
            <a:avLst/>
          </a:prstGeom>
          <a:solidFill>
            <a:srgbClr val="E3F7F4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2404872"/>
            <a:ext cx="23774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Filter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88552" y="2898648"/>
            <a:ext cx="2606040" cy="5486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250" b="0">
                <a:solidFill>
                  <a:srgbClr val="657086"/>
                </a:solidFill>
                <a:latin typeface="Aptos"/>
              </a:rPr>
              <a:t>Filter support should be explicit in the report.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88552" y="3566160"/>
            <a:ext cx="20116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50" b="1">
                <a:solidFill>
                  <a:srgbClr val="0E9F93"/>
                </a:solidFill>
                <a:latin typeface="Aptos"/>
              </a:rPr>
              <a:t>css-filter warning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97280" y="5532120"/>
            <a:ext cx="1234440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1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71600" y="5779008"/>
            <a:ext cx="2377440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700" b="1">
                <a:solidFill>
                  <a:srgbClr val="172033"/>
                </a:solidFill>
                <a:latin typeface="Aptos"/>
              </a:rPr>
              <a:t>Inline rich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705856"/>
            <a:ext cx="8869680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50" b="0">
                <a:solidFill>
                  <a:srgbClr val="657086"/>
                </a:solidFill>
                <a:latin typeface="Aptos"/>
              </a:rPr>
              <a:t>This paragraph includes bold emphasis, italic nuance, and a safe link so the converter can test editable text runs.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BFB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070080" y="-1097280"/>
            <a:ext cx="3200400" cy="3200400"/>
          </a:xfrm>
          <a:prstGeom prst="ellipse">
            <a:avLst/>
          </a:prstGeom>
          <a:solidFill>
            <a:srgbClr val="DCE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731520" y="6217920"/>
            <a:ext cx="2926080" cy="2926080"/>
          </a:xfrm>
          <a:prstGeom prst="ellipse">
            <a:avLst/>
          </a:prstGeom>
          <a:solidFill>
            <a:srgbClr val="E5F7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457200"/>
            <a:ext cx="484632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900" b="1">
                <a:solidFill>
                  <a:srgbClr val="657086"/>
                </a:solidFill>
                <a:latin typeface="Aptos"/>
              </a:rPr>
              <a:t>EXPORT SCORECARD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4672"/>
            <a:ext cx="8046720" cy="6400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800" b="1">
                <a:solidFill>
                  <a:srgbClr val="172033"/>
                </a:solidFill>
                <a:latin typeface="Aptos"/>
              </a:rPr>
              <a:t>Export Scorecard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395960" y="502920"/>
            <a:ext cx="54864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/>
            <a:r>
              <a:rPr sz="1200" b="1">
                <a:solidFill>
                  <a:srgbClr val="657086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68680" y="2011680"/>
          <a:ext cx="12298680" cy="5074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840480"/>
                <a:gridCol w="4251960"/>
                <a:gridCol w="2011680"/>
              </a:tblGrid>
              <a:tr h="8458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6FED"/>
                          </a:solidFill>
                          <a:latin typeface="Aptos"/>
                        </a:rPr>
                        <a:t>Object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6FED"/>
                          </a:solidFill>
                          <a:latin typeface="Aptos"/>
                        </a:rPr>
                        <a:t>Expected PPTX result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6FED"/>
                          </a:solidFill>
                          <a:latin typeface="Aptos"/>
                        </a:rPr>
                        <a:t>Acceptance check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2F6FED"/>
                          </a:solidFill>
                          <a:latin typeface="Aptos"/>
                        </a:rPr>
                        <a:t>Status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72033"/>
                          </a:solidFill>
                          <a:latin typeface="Aptos"/>
                        </a:rPr>
                        <a:t>Slide title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Editable text box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Click and revise in PowerPoint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72033"/>
                          </a:solidFill>
                          <a:latin typeface="Aptos"/>
                        </a:rPr>
                        <a:t>Metric cards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Editable text plus rounded rectangles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Move one card without moving slide image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72033"/>
                          </a:solidFill>
                          <a:latin typeface="Aptos"/>
                        </a:rPr>
                        <a:t>SVG chart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Visible vector or image fallback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Never blank, report editability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72033"/>
                          </a:solidFill>
                          <a:latin typeface="Aptos"/>
                        </a:rPr>
                        <a:t>Unsupported CSS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Raster fallback or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Warning code appears in report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Required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172033"/>
                          </a:solidFill>
                          <a:latin typeface="Aptos"/>
                        </a:rPr>
                        <a:t>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Editable PowerPoint table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Row and column counts preserved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172033"/>
                          </a:solidFill>
                          <a:latin typeface="Aptos"/>
                        </a:rPr>
                        <a:t>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720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149840" y="-1005840"/>
            <a:ext cx="4754880" cy="4754880"/>
          </a:xfrm>
          <a:prstGeom prst="ellipse">
            <a:avLst/>
          </a:prstGeom>
          <a:solidFill>
            <a:srgbClr val="2356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188720" y="4206240"/>
            <a:ext cx="3657600" cy="3657600"/>
          </a:xfrm>
          <a:prstGeom prst="ellipse">
            <a:avLst/>
          </a:prstGeom>
          <a:solidFill>
            <a:srgbClr val="6B3F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" y="658368"/>
            <a:ext cx="1828800" cy="25603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000" b="1">
                <a:solidFill>
                  <a:srgbClr val="DDE7F7"/>
                </a:solidFill>
                <a:latin typeface="Aptos"/>
              </a:rPr>
              <a:t>DECISION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1298448"/>
            <a:ext cx="9326880" cy="18288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Ship the export as a transparent hybrid, not a silent imitation.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474720"/>
            <a:ext cx="8138160" cy="77724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650" b="0">
                <a:solidFill>
                  <a:srgbClr val="DDE7F7"/>
                </a:solidFill>
                <a:latin typeface="Aptos"/>
              </a:rPr>
              <a:t>When the deck can stay editable, keep it editable. When the browser uses effects PowerPoint cannot represent, preserve the look and tell the user what was flattened.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74920"/>
            <a:ext cx="3657600" cy="1508760"/>
          </a:xfrm>
          <a:prstGeom prst="roundRect">
            <a:avLst/>
          </a:prstGeom>
          <a:solidFill>
            <a:srgbClr val="263B5B"/>
          </a:solidFill>
          <a:ln w="12700">
            <a:solidFill>
              <a:srgbClr val="526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5376672"/>
            <a:ext cx="475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5376672"/>
            <a:ext cx="22860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DDE7F7"/>
                </a:solidFill>
                <a:latin typeface="Aptos"/>
              </a:rPr>
              <a:t>Start with deterministic fixtures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84648" y="5074920"/>
            <a:ext cx="3657600" cy="1508760"/>
          </a:xfrm>
          <a:prstGeom prst="roundRect">
            <a:avLst/>
          </a:prstGeom>
          <a:solidFill>
            <a:srgbClr val="263B5B"/>
          </a:solidFill>
          <a:ln w="12700">
            <a:solidFill>
              <a:srgbClr val="526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40680" y="5376672"/>
            <a:ext cx="475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76672"/>
            <a:ext cx="22860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DDE7F7"/>
                </a:solidFill>
                <a:latin typeface="Aptos"/>
              </a:rPr>
              <a:t>Measure fidelity with renders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0615" y="5074920"/>
            <a:ext cx="3657600" cy="1508760"/>
          </a:xfrm>
          <a:prstGeom prst="roundRect">
            <a:avLst/>
          </a:prstGeom>
          <a:solidFill>
            <a:srgbClr val="263B5B"/>
          </a:solidFill>
          <a:ln w="12700">
            <a:solidFill>
              <a:srgbClr val="526C9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56647" y="5376672"/>
            <a:ext cx="475488" cy="34747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69295" y="5376672"/>
            <a:ext cx="2286000" cy="38404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150" b="0">
                <a:solidFill>
                  <a:srgbClr val="DDE7F7"/>
                </a:solidFill>
                <a:latin typeface="Aptos"/>
              </a:rPr>
              <a:t>Expose every fallback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